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365760"/>
            <a:ext cx="4114800" cy="4114800"/>
          </a:xfrm>
          <a:prstGeom prst="ellipse">
            <a:avLst/>
          </a:prstGeom>
          <a:solidFill>
            <a:srgbClr val="E53935">
              <a:alpha val="10000"/>
            </a:srgbClr>
          </a:solidFill>
          <a:ln w="12700">
            <a:solidFill>
              <a:srgbClr val="E53935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74320"/>
            <a:ext cx="2743200" cy="2743200"/>
          </a:xfrm>
          <a:prstGeom prst="ellipse">
            <a:avLst/>
          </a:prstGeom>
          <a:solidFill>
            <a:srgbClr val="E53935">
              <a:alpha val="18000"/>
            </a:srgbClr>
          </a:solidFill>
          <a:ln w="12700">
            <a:solidFill>
              <a:srgbClr val="E53935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00BFA5">
              <a:alpha val="10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11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 OF COMPUTER SCIENCE &amp; ENGINEERING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530352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DNS Poisoning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457200" y="162763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 ·  Detection  ·  Mitigation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4572000" cy="36576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286000"/>
            <a:ext cx="4754880" cy="2514600"/>
          </a:xfrm>
          <a:prstGeom prst="rect">
            <a:avLst/>
          </a:prstGeom>
          <a:solidFill>
            <a:srgbClr val="161B22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423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42032" y="24231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Tethi Das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2743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42032" y="27432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241370107080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3063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42032" y="30632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– Computer Engineering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33832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42032" y="33832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 Semester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3703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42032" y="37033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Deepak Upadhyay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4023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42032" y="40233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 Technological University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43434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42032" y="43434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(OS)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Live Lab Demo  |  Kali Linux (Attacker) + Ubuntu 24.04 LTS (Victim)  |  MacBook M4  |  April 2026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Lab Demo  ·  Kali Linux (Attacker) + Ubuntu 24.04 LTS (Victim)  ·  MacBook M4  ·  April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01    Introduction to DNS &amp; DNS Poisoning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DNS and why is it vulnerable?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(Domain Name System) — designed by Paul Mockapetris in 1983 — is the internet's phonebook, converting domain names like www.google.com into IP addresses like 142.251.155.119.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was designed for a trusted academic network — it has NO built-in authentication. Any server can forge a DNS response.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Poisoning (DNS Spoofing) tricks the victim's device into connecting to the attacker's server instead of the real one.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 is completely invisible — no browser warning, no certificate error, no visual indication to the victim.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760720" y="896112"/>
            <a:ext cx="2971800" cy="530352"/>
          </a:xfrm>
          <a:prstGeom prst="rect">
            <a:avLst/>
          </a:prstGeom>
          <a:solidFill>
            <a:srgbClr val="00BFA5">
              <a:alpha val="22000"/>
            </a:srgbClr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0" y="896112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www.google.com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205472" y="1426464"/>
            <a:ext cx="36576" cy="13716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0" y="1563624"/>
            <a:ext cx="2971800" cy="530352"/>
          </a:xfrm>
          <a:prstGeom prst="rect">
            <a:avLst/>
          </a:prstGeom>
          <a:solidFill>
            <a:srgbClr val="00BFA5">
              <a:alpha val="22000"/>
            </a:srgbClr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1563624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checks cache / /etc/hosts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205472" y="2093976"/>
            <a:ext cx="36576" cy="13716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0" y="2231136"/>
            <a:ext cx="2971800" cy="530352"/>
          </a:xfrm>
          <a:prstGeom prst="rect">
            <a:avLst/>
          </a:prstGeom>
          <a:solidFill>
            <a:srgbClr val="00BFA5">
              <a:alpha val="22000"/>
            </a:srgbClr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2231136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queries /etc/resolv.conf DNS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205472" y="2761488"/>
            <a:ext cx="36576" cy="13716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0720" y="2898648"/>
            <a:ext cx="2971800" cy="530352"/>
          </a:xfrm>
          <a:prstGeom prst="rect">
            <a:avLst/>
          </a:prstGeom>
          <a:solidFill>
            <a:srgbClr val="E53935">
              <a:alpha val="22000"/>
            </a:srgbClr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2898648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Rogue DNS intercepts query!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205472" y="3429000"/>
            <a:ext cx="36576" cy="13716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60720" y="3566160"/>
            <a:ext cx="2971800" cy="530352"/>
          </a:xfrm>
          <a:prstGeom prst="rect">
            <a:avLst/>
          </a:prstGeom>
          <a:solidFill>
            <a:srgbClr val="E53935">
              <a:alpha val="22000"/>
            </a:srgbClr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3566160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192.168.1.13 (Kali IP)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05472" y="4096512"/>
            <a:ext cx="36576" cy="13716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60720" y="4233672"/>
            <a:ext cx="2971800" cy="530352"/>
          </a:xfrm>
          <a:prstGeom prst="rect">
            <a:avLst/>
          </a:prstGeom>
          <a:solidFill>
            <a:srgbClr val="E53935">
              <a:alpha val="22000"/>
            </a:srgbClr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4233672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connects to FAKE page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760720" y="484632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DNS Resolution Flow (Poisoned)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3840480"/>
            <a:ext cx="4937760" cy="868680"/>
          </a:xfrm>
          <a:prstGeom prst="rect">
            <a:avLst/>
          </a:prstGeom>
          <a:solidFill>
            <a:srgbClr val="0D1117"/>
          </a:solidFill>
          <a:ln w="19050">
            <a:solidFill>
              <a:srgbClr val="FFD6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8587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Why DNS is Vulnerable: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" y="41148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— connectionless, no handshake, easily spoofed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authentication — any host can send a fake response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16-bit transaction ID — only 65,536 possibilities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— poisoned entries persist until TTL expires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Poisoning · OS Project · Tethi Das · 241370107080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02    Lab Environment Setup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MacBook M4 · VMware Fusion + UTM · Bridged Network (192.168.1.x)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23360" cy="3566160"/>
          </a:xfrm>
          <a:prstGeom prst="rect">
            <a:avLst/>
          </a:prstGeom>
          <a:solidFill>
            <a:srgbClr val="161B22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14400"/>
            <a:ext cx="4023360" cy="438912"/>
          </a:xfrm>
          <a:prstGeom prst="rect">
            <a:avLst/>
          </a:prstGeom>
          <a:solidFill>
            <a:srgbClr val="E53935">
              <a:alpha val="80000"/>
            </a:srgbClr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1440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🔴  ATTACKER — Kali Linux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435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011680" y="1435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Kali Linux 2024 Rolling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17465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011680" y="17465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192.168.1.13 (eth0)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057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01168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00:0c:29:07:7b:f0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23682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011680" y="23682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VMware Fusion 13.x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26791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RAM/Storage: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011680" y="2679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GB / 40 GB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2990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011680" y="29900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zsh (Kali default)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33009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011680" y="33009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tethi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36118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fakeDNS.py · Apache2 · dsniff · kali_attack.sh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914400"/>
            <a:ext cx="4023360" cy="3566160"/>
          </a:xfrm>
          <a:prstGeom prst="rect">
            <a:avLst/>
          </a:prstGeom>
          <a:solidFill>
            <a:srgbClr val="161B22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914400"/>
            <a:ext cx="4023360" cy="438912"/>
          </a:xfrm>
          <a:prstGeom prst="rect">
            <a:avLst/>
          </a:prstGeom>
          <a:solidFill>
            <a:srgbClr val="00BFA5">
              <a:alpha val="80000"/>
            </a:srgbClr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91440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🟡  VICTIM — Ubuntu 24.04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83480" y="14356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OS: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83680" y="14356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Ubuntu 24.04 LTS Noble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83480" y="174650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IP: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583680" y="17465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192.168.1.10 (enp0s1)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983480" y="2057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MAC: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583680" y="2057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6e:1e:0b:eb:6b:2e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83480" y="23682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VM: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83680" y="23682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UTM 4.x (QEMU-based)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83480" y="26791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RAM/Storage: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583680" y="26791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GB / 20 GB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983480" y="29900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(default):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583680" y="29900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systemd-resolved stub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983480" y="33009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Username: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583680" y="33009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codebind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846320" y="36118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tshark · dig · nslookup · arpwatch · curl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20040" y="468172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⟵  Same Subnet: 192.168.1.x  |  Gateway: 192.168.1.1  |  Bridged Network  ⟶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Poisoning · OS Project · Tethi Das · 241370107080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03    Tools &amp; Technologies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tools on Kali · Detection tools on Ubuntu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23360" cy="886968"/>
          </a:xfrm>
          <a:prstGeom prst="rect">
            <a:avLst/>
          </a:prstGeom>
          <a:solidFill>
            <a:srgbClr val="1C2128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96926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5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29768" y="11338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fakeDNS.py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138988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40-line Python rogue DNS server using dnslib. Intercepts ALL queries → returns 192.168.1.13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901952"/>
            <a:ext cx="4023360" cy="886968"/>
          </a:xfrm>
          <a:prstGeom prst="rect">
            <a:avLst/>
          </a:prstGeom>
          <a:solidFill>
            <a:srgbClr val="1C2128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95681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5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29768" y="21214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" y="237744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web server serving fake 'DNS POISONED' HTML page on port 80 as visual proof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889504"/>
            <a:ext cx="4023360" cy="886968"/>
          </a:xfrm>
          <a:prstGeom prst="rect">
            <a:avLst/>
          </a:prstGeom>
          <a:solidFill>
            <a:srgbClr val="1C2128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29443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5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29768" y="31089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dsniff / arpspoof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9768" y="336499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for DNS spoofing and ARP cache poisoning. Used as alternative attack vector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877056"/>
            <a:ext cx="4023360" cy="886968"/>
          </a:xfrm>
          <a:prstGeom prst="rect">
            <a:avLst/>
          </a:prstGeom>
          <a:solidFill>
            <a:srgbClr val="1C2128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393192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5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29768" y="40965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kali_attack.sh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9768" y="4352544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automation script: 9 steps — install, IP forwarding, hosts file, Apache, fakeDNS launch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914400"/>
            <a:ext cx="4023360" cy="886968"/>
          </a:xfrm>
          <a:prstGeom prst="rect">
            <a:avLst/>
          </a:prstGeom>
          <a:solidFill>
            <a:srgbClr val="1C2128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96926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864608" y="11338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tshark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64608" y="138988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Wireshark: captures UDP port 53 traffic, proves DNS responses come FROM 192.168.1.13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1901952"/>
            <a:ext cx="4023360" cy="886968"/>
          </a:xfrm>
          <a:prstGeom prst="rect">
            <a:avLst/>
          </a:prstGeom>
          <a:solidFill>
            <a:srgbClr val="1C2128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195681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864608" y="21214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 / nslookup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64608" y="237744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lookup tools: compare poisoned resolver vs @8.8.8.8. Shows IP, TTL, query time discrepancies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2889504"/>
            <a:ext cx="4023360" cy="886968"/>
          </a:xfrm>
          <a:prstGeom prst="rect">
            <a:avLst/>
          </a:prstGeom>
          <a:solidFill>
            <a:srgbClr val="1C2128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29443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864608" y="31089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arpwatch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64608" y="336499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Daemon monitoring MAC-to-IP changes. Alerts on 'changed ethernet address' or ARP flip-flop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3877056"/>
            <a:ext cx="4023360" cy="886968"/>
          </a:xfrm>
          <a:prstGeom prst="rect">
            <a:avLst/>
          </a:prstGeom>
          <a:solidFill>
            <a:srgbClr val="1C2128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393192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864608" y="40965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ubuntu_victim.sh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64608" y="4352544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15-step automation: baseline → attack proof → detection → mitigation → final summary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Poisoning · OS Project · Tethi Das · 241370107080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04    Attack Phase — Kali Linux Setup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the rogue DNS server and fake web page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49240" y="914400"/>
            <a:ext cx="3520440" cy="2560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49240" y="914400"/>
            <a:ext cx="3520440" cy="2560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5252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914400"/>
            <a:ext cx="3520440" cy="2560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49240" y="349300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📹 Kali Video — Apache + dnsspoof.hosts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384048" y="1115568"/>
            <a:ext cx="402336" cy="402336"/>
          </a:xfrm>
          <a:prstGeom prst="ellipse">
            <a:avLst/>
          </a:prstGeom>
          <a:solidFill>
            <a:srgbClr val="E53935">
              <a:alpha val="80000"/>
            </a:srgbClr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84048" y="1115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914400" y="106070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Reconnaissance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914400" y="13167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 → eth0: 192.168.1.13  |  ping -c3 192.168.1.10 → 0% loss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84048" y="1911096"/>
            <a:ext cx="402336" cy="402336"/>
          </a:xfrm>
          <a:prstGeom prst="ellipse">
            <a:avLst/>
          </a:prstGeom>
          <a:solidFill>
            <a:srgbClr val="E53935">
              <a:alpha val="80000"/>
            </a:srgbClr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84048" y="1911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914400" y="18562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Tools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914400" y="211226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 install dsniff apache2 python3-dnslib (all already newest version)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84048" y="2706624"/>
            <a:ext cx="402336" cy="402336"/>
          </a:xfrm>
          <a:prstGeom prst="ellipse">
            <a:avLst/>
          </a:prstGeom>
          <a:solidFill>
            <a:srgbClr val="E53935">
              <a:alpha val="80000"/>
            </a:srgbClr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84048" y="2706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914400" y="26517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IP Forwarding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914400" y="290779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1 | tee /proc/sys/net/ipv4/ip_forward  →  keeps victim's internet working (stealth)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384048" y="3502152"/>
            <a:ext cx="402336" cy="402336"/>
          </a:xfrm>
          <a:prstGeom prst="ellipse">
            <a:avLst/>
          </a:prstGeom>
          <a:solidFill>
            <a:srgbClr val="E53935">
              <a:alpha val="80000"/>
            </a:srgbClr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84048" y="3502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914400" y="34472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Fake DNS Hosts File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914400" y="37033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/etc/dnsspoof.hosts: 192.168.1.13 → *.google.com, facebook.com, example.com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384048" y="4297680"/>
            <a:ext cx="402336" cy="402336"/>
          </a:xfrm>
          <a:prstGeom prst="ellipse">
            <a:avLst/>
          </a:prstGeom>
          <a:solidFill>
            <a:srgbClr val="E53935">
              <a:alpha val="80000"/>
            </a:srgbClr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84048" y="4297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914400" y="424281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Apache Fake Page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914400" y="449884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systemctl start apache2  →  'YOU HAVE BEEN DNS POISONED!' served on port 80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Poisoning · OS Project · Tethi Das · 241370107080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05    fakeDNS.py — Rogue DNS Server Live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 intercepts all DNS queries and replies with attacker IP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868680"/>
            <a:ext cx="3794760" cy="2926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0" y="868680"/>
            <a:ext cx="3794760" cy="29260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3935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868680"/>
            <a:ext cx="3794760" cy="29260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0" y="381304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📹 Kali Video — fakeDNS.py live interception log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365760" y="868680"/>
            <a:ext cx="4434840" cy="2286000"/>
          </a:xfrm>
          <a:prstGeom prst="rect">
            <a:avLst/>
          </a:prstGeom>
          <a:solidFill>
            <a:srgbClr val="0D1117"/>
          </a:solidFill>
          <a:ln w="19050">
            <a:solidFill>
              <a:srgbClr val="FF525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02920" y="914400"/>
            <a:ext cx="41605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FAKE_IP = "192.168.1.13"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FakeDNS(BaseResolver):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resolve(self, request, handler):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reply = request.reply()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reply.add_answer(RR(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request.q.qname,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QTYPE.A,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rdata=A(FAKE_IP),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ttl=60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print(f"[SPOOF] {request.q.qname}")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reply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 = DNSServer(FakeDNS(), port=53)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server.start_thread()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365760" y="3218688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fakeDNS.py Works: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65760" y="3493008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Binds to UDP port 53 on ALL interfaces (0.0.0.0)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DNS query → replied with 192.168.1.13 (Kali)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= 60s (low → frequent re-queries, attack stays active)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every interception: [SPOOF] www.google.com --&gt; 192.168.1.13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kali_attack.sh: KALI ATTACK SCRIPT COMPLETE! ✓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Poisoning · OS Project · Tethi Das · 241370107080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06    Victim Side — Attack Proof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24.04 · DNS pointing to Kali (192.168.1.13)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914400"/>
            <a:ext cx="4114800" cy="2377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914400"/>
            <a:ext cx="4114800" cy="23774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BFA5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0"/>
            <a:ext cx="4114800" cy="23774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0040" y="331012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📹 Ubuntu Video — Baseline dig: real IPs (142.251.x.x) BEFORE attack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4663440" y="932688"/>
            <a:ext cx="2103120" cy="512064"/>
          </a:xfrm>
          <a:prstGeom prst="rect">
            <a:avLst/>
          </a:prstGeom>
          <a:solidFill>
            <a:srgbClr val="E53935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718304" y="932688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766560" y="932688"/>
            <a:ext cx="1737360" cy="512064"/>
          </a:xfrm>
          <a:prstGeom prst="rect">
            <a:avLst/>
          </a:prstGeom>
          <a:solidFill>
            <a:srgbClr val="E53935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821424" y="932688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Attack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8503920" y="932688"/>
            <a:ext cx="1737360" cy="512064"/>
          </a:xfrm>
          <a:prstGeom prst="rect">
            <a:avLst/>
          </a:prstGeom>
          <a:solidFill>
            <a:srgbClr val="E53935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558784" y="932688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Poisoning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663440" y="1481328"/>
            <a:ext cx="2103120" cy="512064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718304" y="1481328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766560" y="1481328"/>
            <a:ext cx="1737360" cy="512064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821424" y="1481328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142.251.155.119 (Google)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8503920" y="1481328"/>
            <a:ext cx="1737360" cy="512064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558784" y="1481328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192.168.1.13 (Kali!)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663440" y="2029968"/>
            <a:ext cx="2103120" cy="512064"/>
          </a:xfrm>
          <a:prstGeom prst="rect">
            <a:avLst/>
          </a:prstGeom>
          <a:solidFill>
            <a:srgbClr val="1C2128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718304" y="2029968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Server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6766560" y="2029968"/>
            <a:ext cx="1737360" cy="512064"/>
          </a:xfrm>
          <a:prstGeom prst="rect">
            <a:avLst/>
          </a:prstGeom>
          <a:solidFill>
            <a:srgbClr val="1C2128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821424" y="2029968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127.0.0.53 (systemd)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8503920" y="2029968"/>
            <a:ext cx="1737360" cy="512064"/>
          </a:xfrm>
          <a:prstGeom prst="rect">
            <a:avLst/>
          </a:prstGeom>
          <a:solidFill>
            <a:srgbClr val="1C2128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8558784" y="2029968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192.168.1.13 (rogue)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663440" y="2578608"/>
            <a:ext cx="2103120" cy="512064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718304" y="2578608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6766560" y="2578608"/>
            <a:ext cx="1737360" cy="512064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821424" y="2578608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seconds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8503920" y="2578608"/>
            <a:ext cx="1737360" cy="512064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8558784" y="2578608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seconds ⚠️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4663440" y="3127248"/>
            <a:ext cx="2103120" cy="512064"/>
          </a:xfrm>
          <a:prstGeom prst="rect">
            <a:avLst/>
          </a:prstGeom>
          <a:solidFill>
            <a:srgbClr val="1C2128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718304" y="3127248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Time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6766560" y="3127248"/>
            <a:ext cx="1737360" cy="512064"/>
          </a:xfrm>
          <a:prstGeom prst="rect">
            <a:avLst/>
          </a:prstGeom>
          <a:solidFill>
            <a:srgbClr val="1C2128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821424" y="3127248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ms (internet)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8503920" y="3127248"/>
            <a:ext cx="1737360" cy="512064"/>
          </a:xfrm>
          <a:prstGeom prst="rect">
            <a:avLst/>
          </a:prstGeom>
          <a:solidFill>
            <a:srgbClr val="1C2128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8558784" y="3127248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ms (local) ⚠️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4663440" y="3675888"/>
            <a:ext cx="2103120" cy="512064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4718304" y="3675888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Count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6766560" y="3675888"/>
            <a:ext cx="1737360" cy="512064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821424" y="3675888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 records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8503920" y="3675888"/>
            <a:ext cx="1737360" cy="512064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8558784" y="3675888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 record ⚠️</a:t>
            </a:r>
            <a:endParaRPr lang="en-US" sz="1000" dirty="0"/>
          </a:p>
        </p:txBody>
      </p:sp>
      <p:sp>
        <p:nvSpPr>
          <p:cNvPr id="45" name="Shape 41"/>
          <p:cNvSpPr/>
          <p:nvPr/>
        </p:nvSpPr>
        <p:spPr>
          <a:xfrm>
            <a:off x="4663440" y="4224528"/>
            <a:ext cx="2103120" cy="512064"/>
          </a:xfrm>
          <a:prstGeom prst="rect">
            <a:avLst/>
          </a:prstGeom>
          <a:solidFill>
            <a:srgbClr val="1C2128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4718304" y="4224528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Result</a:t>
            </a:r>
            <a:endParaRPr lang="en-US" sz="1000" dirty="0"/>
          </a:p>
        </p:txBody>
      </p:sp>
      <p:sp>
        <p:nvSpPr>
          <p:cNvPr id="47" name="Shape 43"/>
          <p:cNvSpPr/>
          <p:nvPr/>
        </p:nvSpPr>
        <p:spPr>
          <a:xfrm>
            <a:off x="6766560" y="4224528"/>
            <a:ext cx="1737360" cy="512064"/>
          </a:xfrm>
          <a:prstGeom prst="rect">
            <a:avLst/>
          </a:prstGeom>
          <a:solidFill>
            <a:srgbClr val="1C2128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6821424" y="4224528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Google HTML</a:t>
            </a:r>
            <a:endParaRPr lang="en-US" sz="1000" dirty="0"/>
          </a:p>
        </p:txBody>
      </p:sp>
      <p:sp>
        <p:nvSpPr>
          <p:cNvPr id="49" name="Shape 45"/>
          <p:cNvSpPr/>
          <p:nvPr/>
        </p:nvSpPr>
        <p:spPr>
          <a:xfrm>
            <a:off x="8503920" y="4224528"/>
            <a:ext cx="1737360" cy="512064"/>
          </a:xfrm>
          <a:prstGeom prst="rect">
            <a:avLst/>
          </a:prstGeom>
          <a:solidFill>
            <a:srgbClr val="1C2128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8558784" y="4224528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POISONED! page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4663440" y="4754880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 Comparison</a:t>
            </a:r>
            <a:endParaRPr lang="en-US" sz="850" dirty="0"/>
          </a:p>
        </p:txBody>
      </p:sp>
      <p:sp>
        <p:nvSpPr>
          <p:cNvPr id="52" name="Shape 48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Poisoning · OS Project · Tethi Das · 241370107080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07    Detection Phase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Methods to Identify the Attack from Ubuntu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868680"/>
            <a:ext cx="3794760" cy="2834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0" y="868680"/>
            <a:ext cx="3794760" cy="28346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BFA5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868680"/>
            <a:ext cx="3794760" cy="2834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0" y="3721608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📹 Ubuntu Video — tshark packet capture + ARP table after attack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320040" y="914400"/>
            <a:ext cx="4434840" cy="694944"/>
          </a:xfrm>
          <a:prstGeom prst="rect">
            <a:avLst/>
          </a:prstGeom>
          <a:solidFill>
            <a:srgbClr val="1C2128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29768" y="1051560"/>
            <a:ext cx="402336" cy="402336"/>
          </a:xfrm>
          <a:prstGeom prst="ellipse">
            <a:avLst/>
          </a:prstGeom>
          <a:solidFill>
            <a:srgbClr val="00BFA5">
              <a:alpha val="80000"/>
            </a:srgbClr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29768" y="1051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69264" y="9875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 Comparison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969264" y="12618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 www.google.com @8.8.8.8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035808" y="1005840"/>
            <a:ext cx="27432" cy="512064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127248" y="969264"/>
            <a:ext cx="1325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 returns 192.168.1.13, real returns 142.251.155.119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480560" y="1115568"/>
            <a:ext cx="228600" cy="320040"/>
          </a:xfrm>
          <a:prstGeom prst="rect">
            <a:avLst/>
          </a:prstGeom>
          <a:solidFill>
            <a:srgbClr val="00BFA5">
              <a:alpha val="75000"/>
            </a:srgbClr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480560" y="1115568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462272" y="11155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9" name="Shape 15"/>
          <p:cNvSpPr/>
          <p:nvPr/>
        </p:nvSpPr>
        <p:spPr>
          <a:xfrm>
            <a:off x="320040" y="1682496"/>
            <a:ext cx="4434840" cy="694944"/>
          </a:xfrm>
          <a:prstGeom prst="rect">
            <a:avLst/>
          </a:prstGeom>
          <a:solidFill>
            <a:srgbClr val="1C2128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29768" y="1819656"/>
            <a:ext cx="402336" cy="402336"/>
          </a:xfrm>
          <a:prstGeom prst="ellipse">
            <a:avLst/>
          </a:prstGeom>
          <a:solidFill>
            <a:srgbClr val="00BFA5">
              <a:alpha val="80000"/>
            </a:srgbClr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29768" y="1819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969264" y="17556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nslookup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969264" y="2029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nslookup www.google.com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3035808" y="1773936"/>
            <a:ext cx="27432" cy="512064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127248" y="1737360"/>
            <a:ext cx="1325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Server: 192.168.1.13 — private LAN IP, not a public DNS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4480560" y="1883664"/>
            <a:ext cx="228600" cy="320040"/>
          </a:xfrm>
          <a:prstGeom prst="rect">
            <a:avLst/>
          </a:prstGeom>
          <a:solidFill>
            <a:srgbClr val="00BFA5">
              <a:alpha val="75000"/>
            </a:srgbClr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480560" y="1883664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462272" y="188366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9" name="Shape 25"/>
          <p:cNvSpPr/>
          <p:nvPr/>
        </p:nvSpPr>
        <p:spPr>
          <a:xfrm>
            <a:off x="320040" y="2450592"/>
            <a:ext cx="4434840" cy="694944"/>
          </a:xfrm>
          <a:prstGeom prst="rect">
            <a:avLst/>
          </a:prstGeom>
          <a:solidFill>
            <a:srgbClr val="1C2128"/>
          </a:solidFill>
          <a:ln w="19050">
            <a:solidFill>
              <a:srgbClr val="2EA043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429768" y="2587752"/>
            <a:ext cx="402336" cy="402336"/>
          </a:xfrm>
          <a:prstGeom prst="ellipse">
            <a:avLst/>
          </a:prstGeom>
          <a:solidFill>
            <a:srgbClr val="2EA043">
              <a:alpha val="80000"/>
            </a:srgbClr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29768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28"/>
          <p:cNvSpPr/>
          <p:nvPr/>
        </p:nvSpPr>
        <p:spPr>
          <a:xfrm>
            <a:off x="969264" y="25237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tshark Capture</a:t>
            </a:r>
            <a:endParaRPr lang="en-US" sz="1150" dirty="0"/>
          </a:p>
        </p:txBody>
      </p:sp>
      <p:sp>
        <p:nvSpPr>
          <p:cNvPr id="33" name="Text 29"/>
          <p:cNvSpPr/>
          <p:nvPr/>
        </p:nvSpPr>
        <p:spPr>
          <a:xfrm>
            <a:off x="969264" y="27980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tshark -i enp0s1 -f 'udp port 53'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3035808" y="2542032"/>
            <a:ext cx="27432" cy="512064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127248" y="2505456"/>
            <a:ext cx="1325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Packets 2,4,6: responses FROM 192.168.1.13 — incontrovertible proof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4480560" y="2651760"/>
            <a:ext cx="228600" cy="320040"/>
          </a:xfrm>
          <a:prstGeom prst="rect">
            <a:avLst/>
          </a:prstGeom>
          <a:solidFill>
            <a:srgbClr val="2EA043">
              <a:alpha val="75000"/>
            </a:srgbClr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480560" y="265176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4462272" y="26517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700" dirty="0"/>
          </a:p>
        </p:txBody>
      </p:sp>
      <p:sp>
        <p:nvSpPr>
          <p:cNvPr id="39" name="Shape 35"/>
          <p:cNvSpPr/>
          <p:nvPr/>
        </p:nvSpPr>
        <p:spPr>
          <a:xfrm>
            <a:off x="320040" y="3218688"/>
            <a:ext cx="4434840" cy="694944"/>
          </a:xfrm>
          <a:prstGeom prst="rect">
            <a:avLst/>
          </a:prstGeom>
          <a:solidFill>
            <a:srgbClr val="1C2128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429768" y="3355848"/>
            <a:ext cx="402336" cy="402336"/>
          </a:xfrm>
          <a:prstGeom prst="ellipse">
            <a:avLst/>
          </a:prstGeom>
          <a:solidFill>
            <a:srgbClr val="00BFA5">
              <a:alpha val="80000"/>
            </a:srgbClr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429768" y="3355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42" name="Text 38"/>
          <p:cNvSpPr/>
          <p:nvPr/>
        </p:nvSpPr>
        <p:spPr>
          <a:xfrm>
            <a:off x="969264" y="3291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 Table Analysis</a:t>
            </a:r>
            <a:endParaRPr lang="en-US" sz="1150" dirty="0"/>
          </a:p>
        </p:txBody>
      </p:sp>
      <p:sp>
        <p:nvSpPr>
          <p:cNvPr id="43" name="Text 39"/>
          <p:cNvSpPr/>
          <p:nvPr/>
        </p:nvSpPr>
        <p:spPr>
          <a:xfrm>
            <a:off x="969264" y="35661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arp -n (before vs after)</a:t>
            </a:r>
            <a:endParaRPr lang="en-US" sz="950" dirty="0"/>
          </a:p>
        </p:txBody>
      </p:sp>
      <p:sp>
        <p:nvSpPr>
          <p:cNvPr id="44" name="Shape 40"/>
          <p:cNvSpPr/>
          <p:nvPr/>
        </p:nvSpPr>
        <p:spPr>
          <a:xfrm>
            <a:off x="3035808" y="3310128"/>
            <a:ext cx="27432" cy="512064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127248" y="3273552"/>
            <a:ext cx="1325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MAC unchanged → no ARP spoof; only rogue DNS method used</a:t>
            </a:r>
            <a:endParaRPr lang="en-US" sz="950" dirty="0"/>
          </a:p>
        </p:txBody>
      </p:sp>
      <p:sp>
        <p:nvSpPr>
          <p:cNvPr id="46" name="Shape 42"/>
          <p:cNvSpPr/>
          <p:nvPr/>
        </p:nvSpPr>
        <p:spPr>
          <a:xfrm>
            <a:off x="4480560" y="3419856"/>
            <a:ext cx="228600" cy="320040"/>
          </a:xfrm>
          <a:prstGeom prst="rect">
            <a:avLst/>
          </a:prstGeom>
          <a:solidFill>
            <a:srgbClr val="00BFA5">
              <a:alpha val="75000"/>
            </a:srgbClr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4480560" y="3419856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4462272" y="341985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49" name="Shape 45"/>
          <p:cNvSpPr/>
          <p:nvPr/>
        </p:nvSpPr>
        <p:spPr>
          <a:xfrm>
            <a:off x="320040" y="3986784"/>
            <a:ext cx="4434840" cy="694944"/>
          </a:xfrm>
          <a:prstGeom prst="rect">
            <a:avLst/>
          </a:prstGeom>
          <a:solidFill>
            <a:srgbClr val="1C2128"/>
          </a:solidFill>
          <a:ln w="19050">
            <a:solidFill>
              <a:srgbClr val="FFD600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429768" y="4123944"/>
            <a:ext cx="402336" cy="402336"/>
          </a:xfrm>
          <a:prstGeom prst="ellipse">
            <a:avLst/>
          </a:prstGeom>
          <a:solidFill>
            <a:srgbClr val="FFD600">
              <a:alpha val="80000"/>
            </a:srgbClr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429768" y="4123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52" name="Text 48"/>
          <p:cNvSpPr/>
          <p:nvPr/>
        </p:nvSpPr>
        <p:spPr>
          <a:xfrm>
            <a:off x="969264" y="40599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arpwatch Daemon</a:t>
            </a:r>
            <a:endParaRPr lang="en-US" sz="1150" dirty="0"/>
          </a:p>
        </p:txBody>
      </p:sp>
      <p:sp>
        <p:nvSpPr>
          <p:cNvPr id="53" name="Text 49"/>
          <p:cNvSpPr/>
          <p:nvPr/>
        </p:nvSpPr>
        <p:spPr>
          <a:xfrm>
            <a:off x="969264" y="43342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journalctl -u arpwatch -f</a:t>
            </a:r>
            <a:endParaRPr lang="en-US" sz="950" dirty="0"/>
          </a:p>
        </p:txBody>
      </p:sp>
      <p:sp>
        <p:nvSpPr>
          <p:cNvPr id="54" name="Shape 50"/>
          <p:cNvSpPr/>
          <p:nvPr/>
        </p:nvSpPr>
        <p:spPr>
          <a:xfrm>
            <a:off x="3035808" y="4078224"/>
            <a:ext cx="27432" cy="512064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3127248" y="4041648"/>
            <a:ext cx="1325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MAC changes; alerts on 'changed ethernet address' / flip-flop</a:t>
            </a:r>
            <a:endParaRPr lang="en-US" sz="950" dirty="0"/>
          </a:p>
        </p:txBody>
      </p:sp>
      <p:sp>
        <p:nvSpPr>
          <p:cNvPr id="56" name="Shape 52"/>
          <p:cNvSpPr/>
          <p:nvPr/>
        </p:nvSpPr>
        <p:spPr>
          <a:xfrm>
            <a:off x="4480560" y="4187952"/>
            <a:ext cx="228600" cy="320040"/>
          </a:xfrm>
          <a:prstGeom prst="rect">
            <a:avLst/>
          </a:prstGeom>
          <a:solidFill>
            <a:srgbClr val="FFD600">
              <a:alpha val="75000"/>
            </a:srgbClr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4480560" y="4187952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58" name="Text 54"/>
          <p:cNvSpPr/>
          <p:nvPr/>
        </p:nvSpPr>
        <p:spPr>
          <a:xfrm>
            <a:off x="4462272" y="418795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00" dirty="0"/>
          </a:p>
        </p:txBody>
      </p:sp>
      <p:sp>
        <p:nvSpPr>
          <p:cNvPr id="59" name="Shape 5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Poisoning · OS Project · Tethi Das · 241370107080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08    Mitigation &amp; Defense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Defenses Applied and Verified on Ubuntu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868680"/>
            <a:ext cx="3794760" cy="2560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0" y="868680"/>
            <a:ext cx="3794760" cy="2560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EA043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868680"/>
            <a:ext cx="3794760" cy="2560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0" y="3447288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📹 Ubuntu Video — Defense steps: DNS restore + dig verification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320040" y="914400"/>
            <a:ext cx="4480560" cy="676656"/>
          </a:xfrm>
          <a:prstGeom prst="rect">
            <a:avLst/>
          </a:prstGeom>
          <a:solidFill>
            <a:srgbClr val="1C2128"/>
          </a:solidFill>
          <a:ln w="19050">
            <a:solidFill>
              <a:srgbClr val="2EA043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29768" y="1042416"/>
            <a:ext cx="402336" cy="402336"/>
          </a:xfrm>
          <a:prstGeom prst="ellipse">
            <a:avLst/>
          </a:prstGeom>
          <a:solidFill>
            <a:srgbClr val="2EA043">
              <a:alpha val="80000"/>
            </a:srgbClr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29768" y="1042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60120" y="9692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 DNS Cache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960120" y="122529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CMD: sudo resolvectl flush-caches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960120" y="138988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Cache: 0/0/0 — all poisoned entries immediately removed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20040" y="1664208"/>
            <a:ext cx="4480560" cy="676656"/>
          </a:xfrm>
          <a:prstGeom prst="rect">
            <a:avLst/>
          </a:prstGeom>
          <a:solidFill>
            <a:srgbClr val="1C2128"/>
          </a:solidFill>
          <a:ln w="19050">
            <a:solidFill>
              <a:srgbClr val="2EA04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29768" y="1792224"/>
            <a:ext cx="402336" cy="402336"/>
          </a:xfrm>
          <a:prstGeom prst="ellipse">
            <a:avLst/>
          </a:prstGeom>
          <a:solidFill>
            <a:srgbClr val="2EA043">
              <a:alpha val="80000"/>
            </a:srgbClr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29768" y="1792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960120" y="17190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Real DNS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960120" y="197510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CMD: nameserver 8.8.8.8 → /etc/resolv.conf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960120" y="213969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dig returns 142.251.x.x · TTL=235s · 19ms · DEFENSE SUCCESSFUL!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320040" y="2414016"/>
            <a:ext cx="4480560" cy="676656"/>
          </a:xfrm>
          <a:prstGeom prst="rect">
            <a:avLst/>
          </a:prstGeom>
          <a:solidFill>
            <a:srgbClr val="1C2128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29768" y="2542032"/>
            <a:ext cx="402336" cy="402336"/>
          </a:xfrm>
          <a:prstGeom prst="ellipse">
            <a:avLst/>
          </a:prstGeom>
          <a:solidFill>
            <a:srgbClr val="00BFA5">
              <a:alpha val="80000"/>
            </a:srgbClr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29768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960120" y="24688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DNSSEC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960120" y="272491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CMD: DNSSEC=yes in /etc/systemd/resolved.conf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960120" y="2889504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Cryptographic signature verification — forged responses rejected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320040" y="3163824"/>
            <a:ext cx="4480560" cy="676656"/>
          </a:xfrm>
          <a:prstGeom prst="rect">
            <a:avLst/>
          </a:prstGeom>
          <a:solidFill>
            <a:srgbClr val="1C2128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29768" y="3291840"/>
            <a:ext cx="402336" cy="402336"/>
          </a:xfrm>
          <a:prstGeom prst="ellipse">
            <a:avLst/>
          </a:prstGeom>
          <a:solidFill>
            <a:srgbClr val="00BFA5">
              <a:alpha val="80000"/>
            </a:srgbClr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29768" y="3291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960120" y="32186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ARP Entry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960120" y="347472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CMD: sudo arp -s 192.168.1.1 60:31:92:04:97:b2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960120" y="363931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CM flag set → gateway MAC permanently locked, ARP spoof blocked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320040" y="3913632"/>
            <a:ext cx="4480560" cy="676656"/>
          </a:xfrm>
          <a:prstGeom prst="rect">
            <a:avLst/>
          </a:prstGeom>
          <a:solidFill>
            <a:srgbClr val="1C2128"/>
          </a:solidFill>
          <a:ln w="19050">
            <a:solidFill>
              <a:srgbClr val="FFD600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429768" y="4041648"/>
            <a:ext cx="402336" cy="402336"/>
          </a:xfrm>
          <a:prstGeom prst="ellipse">
            <a:avLst/>
          </a:prstGeom>
          <a:solidFill>
            <a:srgbClr val="FFD600">
              <a:alpha val="80000"/>
            </a:srgbClr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29768" y="4041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2"/>
          <p:cNvSpPr/>
          <p:nvPr/>
        </p:nvSpPr>
        <p:spPr>
          <a:xfrm>
            <a:off x="960120" y="39684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Verified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960120" y="422452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CMD: ubuntu_victim.sh — 15 steps complete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960120" y="438912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ATTACK ✓  DETECTION ✓  DEFENSE ✓  — All 3 phases confirmed</a:t>
            </a:r>
            <a:endParaRPr lang="en-US" sz="950" dirty="0"/>
          </a:p>
        </p:txBody>
      </p:sp>
      <p:sp>
        <p:nvSpPr>
          <p:cNvPr id="39" name="Text 35"/>
          <p:cNvSpPr/>
          <p:nvPr/>
        </p:nvSpPr>
        <p:spPr>
          <a:xfrm>
            <a:off x="320040" y="468172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Best Practice: DNSSEC + DoH/DoT + arpwatch + HSTS = Comprehensive DNS Security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Poisoning · OS Project · Tethi Das · 241370107080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457200"/>
            <a:ext cx="4114800" cy="4114800"/>
          </a:xfrm>
          <a:prstGeom prst="ellipse">
            <a:avLst/>
          </a:prstGeom>
          <a:solidFill>
            <a:srgbClr val="E53935">
              <a:alpha val="8000"/>
            </a:srgbClr>
          </a:solidFill>
          <a:ln w="12700">
            <a:solidFill>
              <a:srgbClr val="E53935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2560320"/>
            <a:ext cx="3657600" cy="3657600"/>
          </a:xfrm>
          <a:prstGeom prst="ellipse">
            <a:avLst/>
          </a:prstGeom>
          <a:solidFill>
            <a:srgbClr val="00BFA5">
              <a:alpha val="8000"/>
            </a:srgbClr>
          </a:solidFill>
          <a:ln w="12700">
            <a:solidFill>
              <a:srgbClr val="00BFA5">
                <a:alpha val="2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 &amp; Thank You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457200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40-line Python (fakeDNS.py) poisoned ALL DNS queries silently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Ubuntu redirected to Kali fake page — 100% transparent to victim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5 detection methods: dig, nslookup, tshark, ARP table, arpwatch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4 defenses verified: cache flush, real DNS, DNSSEC, static ARP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Automated: kali_attack.sh (9 steps) + ubuntu_victim.sh (15 steps)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DNS needs layered defense: DNSSEC + DoH/DoT + monitoring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3456432"/>
            <a:ext cx="1051560" cy="1280160"/>
          </a:xfrm>
          <a:prstGeom prst="rect">
            <a:avLst/>
          </a:prstGeom>
          <a:solidFill>
            <a:srgbClr val="161B22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4747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539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4096512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508760" y="3456432"/>
            <a:ext cx="1051560" cy="1280160"/>
          </a:xfrm>
          <a:prstGeom prst="rect">
            <a:avLst/>
          </a:prstGeom>
          <a:solidFill>
            <a:srgbClr val="161B22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34747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539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508760" y="4096512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51760" y="3456432"/>
            <a:ext cx="1051560" cy="1280160"/>
          </a:xfrm>
          <a:prstGeom prst="rect">
            <a:avLst/>
          </a:prstGeom>
          <a:solidFill>
            <a:srgbClr val="161B22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34747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539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2651760" y="4096512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94760" y="3456432"/>
            <a:ext cx="1051560" cy="1280160"/>
          </a:xfrm>
          <a:prstGeom prst="rect">
            <a:avLst/>
          </a:prstGeom>
          <a:solidFill>
            <a:srgbClr val="161B22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94760" y="34747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539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794760" y="4096512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120640" y="914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4600" dirty="0"/>
          </a:p>
        </p:txBody>
      </p:sp>
      <p:sp>
        <p:nvSpPr>
          <p:cNvPr id="20" name="Shape 18"/>
          <p:cNvSpPr/>
          <p:nvPr/>
        </p:nvSpPr>
        <p:spPr>
          <a:xfrm>
            <a:off x="5120640" y="1005840"/>
            <a:ext cx="3749040" cy="2834640"/>
          </a:xfrm>
          <a:prstGeom prst="rect">
            <a:avLst/>
          </a:prstGeom>
          <a:solidFill>
            <a:srgbClr val="161B22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85232" y="111556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638544" y="11155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Tethi Das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285232" y="14630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638544" y="1463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241370107080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285232" y="181051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638544" y="18105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– CE, 4th Sem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285232" y="2157984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638544" y="21579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Deepak Upadhyay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285232" y="250545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University: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638544" y="25054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GTU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285232" y="285292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638544" y="28529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285232" y="32004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Date: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638544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13–15, 2026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Educational Use Only · Gujarat Technological University · Academic Year 2025–2026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DNS Poisoning - OS Project</dc:title>
  <dc:subject>PptxGenJS Presentation</dc:subject>
  <dc:creator>PptxGenJS</dc:creator>
  <cp:lastModifiedBy>PptxGenJS</cp:lastModifiedBy>
  <cp:revision>1</cp:revision>
  <dcterms:created xsi:type="dcterms:W3CDTF">2026-05-06T11:18:01Z</dcterms:created>
  <dcterms:modified xsi:type="dcterms:W3CDTF">2026-05-06T11:18:01Z</dcterms:modified>
</cp:coreProperties>
</file>